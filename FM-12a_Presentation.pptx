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Exact-match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3B ZS</c:v>
                  </c:pt>
                  <c:pt idx="1">
                    <c:v>3B FT</c:v>
                  </c:pt>
                  <c:pt idx="2">
                    <c:v>7B ZS</c:v>
                  </c:pt>
                  <c:pt idx="3">
                    <c:v>7B FT</c:v>
                  </c:pt>
                  <c:pt idx="4">
                    <c:v>API 35B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</c:v>
                </c:pt>
                <c:pt idx="1">
                  <c:v>51.5</c:v>
                </c:pt>
                <c:pt idx="2">
                  <c:v>51.3</c:v>
                </c:pt>
                <c:pt idx="3">
                  <c:v>56.7</c:v>
                </c:pt>
                <c:pt idx="4">
                  <c:v>42.8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LLM-judge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3B ZS</c:v>
                  </c:pt>
                  <c:pt idx="1">
                    <c:v>3B FT</c:v>
                  </c:pt>
                  <c:pt idx="2">
                    <c:v>7B ZS</c:v>
                  </c:pt>
                  <c:pt idx="3">
                    <c:v>7B FT</c:v>
                  </c:pt>
                  <c:pt idx="4">
                    <c:v>API 35B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60.8</c:v>
                </c:pt>
                <c:pt idx="1">
                  <c:v>61.3</c:v>
                </c:pt>
                <c:pt idx="2">
                  <c:v>62.6</c:v>
                </c:pt>
                <c:pt idx="3">
                  <c:v>66.7</c:v>
                </c:pt>
                <c:pt idx="4">
                  <c:v>53.5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6EDF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0"/>
        <c:axPos val="l"/>
        <c:majorGridlines>
          <c:spPr>
            <a:ln w="12700" cap="flat">
              <a:solidFill>
                <a:srgbClr val="2632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FB0C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E6EDF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human stake, not the tech. This deck argues one thesis: naive AI additions fail on satellite imagery; targeted, domain-aware ones win. Best config to remember: 7B fine-tuned, 56.7% exact / 66.7% judge.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20-second map of the talk: goal, method, findings, result, edge, demo. Then dive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reliability as the blocker to adoption. In disaster response, agriculture, defence a confident wrong answer costs money and lives. Baselines: majority 34.5%, random 23.1%.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scientific backbone: control everything, vary one thing. This is what lets me claim causation, not 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path is image+question→VLM→answer. The reliability layer (detector + verifier) is the studied machinery. Detector on CPU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negative result — and a real result. It replicates across three models, so it's systematic, not noise. Motivates a remote-sensing-specific detector as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is the metric that matters: a false flag throws away a correct answer. 83.8% precision means we rarely do that. This is the reliability/abstention story — the emotional core of the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the diagnostic loop: I found WHY naive fine-tuning fails (counting collapse = catastrophic forgetting) and fixed it with answer-only masking + a lower LR — validated across 3B and 7B.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chart, whole thesis. Exact-match and judge for all five configs. 7B FT is the tallest pair; the 35B API is the shortest — domain fit beats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business punchline: not only more accurate for the domain, but tiny, cheap, and private. Hammer the footprint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app here. Reveal → coach tour → ask a strong question (answer + boxes appear together) → mention the reliability/abstain idea → optionally before/after. Have a screenshot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thesis and the best number. Then invite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a question to open discussion, not a full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822960"/>
            <a:ext cx="3108960" cy="310896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228600"/>
            <a:ext cx="1005840" cy="10058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FM-12a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Vision AI for Satellite Imagery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Remote-Sensing Grounded Visual Question Answering — a locally fine-tuned model that answers questions about objects in satellite images, and knows when to abstain.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4663440"/>
            <a:ext cx="4754880" cy="566928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6344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Best configuration:  </a:t>
            </a:r>
            <a:pPr algn="ctr"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fine-tuned · 56.7% / 66.7%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Uday Kalase  ·  40509608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ECS8060 Artificial Intelligence Engineering  ·  Queen's University Belfast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about satellite images reliably — and abstain rather than guess.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9976" y="1554480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🧩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08576" y="2468880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8576" y="2880360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answering model constant; test which engineering add-ons truly help.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11312" y="1554480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783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439912" y="2468880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9912" y="2880360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hurts, a consistency check helps, and careful fine-tuning wins.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6512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3251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" y="501091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422392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fine-tuned reaches 56.7% / 66.7% — beating a general model 4× its size.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9976" y="4096512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43251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608576" y="501091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08576" y="5422392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local in 4-bit — private, offline, and free per query.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11312" y="4096512"/>
            <a:ext cx="3602736" cy="2286000"/>
          </a:xfrm>
          <a:prstGeom prst="roundRect">
            <a:avLst>
              <a:gd name="adj" fmla="val 48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9912" y="43251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439912" y="5010912"/>
            <a:ext cx="3145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9912" y="5422392"/>
            <a:ext cx="31455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dashboard: ask a question, get an answer plus detected objects.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reliability, not just accuracy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223760" cy="1133856"/>
          </a:xfrm>
          <a:prstGeom prst="roundRect">
            <a:avLst>
              <a:gd name="adj" fmla="val 9677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3852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76479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imagery is hard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Nadir view, tiny densely-packed objects — unusual for general models.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7223760" cy="1133856"/>
          </a:xfrm>
          <a:prstGeom prst="roundRect">
            <a:avLst>
              <a:gd name="adj" fmla="val 9677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3697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0632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VLMs are uneven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463040" y="3447288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out of the box, but a confident wrong answer is worse than “not sure”.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97096"/>
            <a:ext cx="7223760" cy="1133856"/>
          </a:xfrm>
          <a:prstGeom prst="roundRect">
            <a:avLst>
              <a:gd name="adj" fmla="val 9677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53542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535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36168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63040" y="4745736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engineering add-ons truly make the model more trustworthy — and which only look like they do?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01000" y="1600200"/>
            <a:ext cx="3639312" cy="3895344"/>
          </a:xfrm>
          <a:prstGeom prst="roundRect">
            <a:avLst>
              <a:gd name="adj" fmla="val 3015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POINTS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92440" y="2286000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F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34.5%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092440" y="294436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majority-per-type baseline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3566160"/>
            <a:ext cx="3456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23.1%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092440" y="422452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must clear both. Evaluated on a fixed 1,000-question VRSBench subset (seed 0).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hold the model constant, swap the machinery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680960" cy="786384"/>
          </a:xfrm>
          <a:prstGeom prst="roundRect">
            <a:avLst>
              <a:gd name="adj" fmla="val 13953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647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43400" y="169164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concise system prompt constrains the model to short, exact answers.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7680960" cy="786384"/>
          </a:xfrm>
          <a:prstGeom prst="roundRect">
            <a:avLst>
              <a:gd name="adj" fmla="val 13953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6791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06040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+ light agent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260604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VLM plus a detector tool and a rule-based verifier — tool use and self-checking.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7680960" cy="786384"/>
          </a:xfrm>
          <a:prstGeom prst="roundRect">
            <a:avLst>
              <a:gd name="adj" fmla="val 13953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935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93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520440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domain fine-tuning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43400" y="352044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adaptation to the benchmark's answer style.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7680960" cy="786384"/>
          </a:xfrm>
          <a:prstGeom prst="roundRect">
            <a:avLst>
              <a:gd name="adj" fmla="val 13953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5079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434840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4-bit inference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43400" y="443484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NF4 quantisation on a laptop GPU — no paid APIs in the answering path.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7680960" cy="786384"/>
          </a:xfrm>
          <a:prstGeom prst="roundRect">
            <a:avLst>
              <a:gd name="adj" fmla="val 13953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4223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422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349240"/>
            <a:ext cx="2880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demo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343400" y="5349240"/>
            <a:ext cx="37033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Gradio dashboard: image + question → answer and detected objects.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458200" y="1600200"/>
            <a:ext cx="3182112" cy="4572000"/>
          </a:xfrm>
          <a:prstGeom prst="roundRect">
            <a:avLst>
              <a:gd name="adj" fmla="val 3448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1874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86800" y="23317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only the surrounding machinery changes, any accuracy shift is attributable to the intervention under test — a clean, controlled comparison.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0" y="5394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mandated components are met.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question becomes a trustworthy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3055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Question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62432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 and a natural-language query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63240" y="196596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213055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(7B)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154680" y="2624328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fine-tuned, 4-bit, on-device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965960"/>
            <a:ext cx="2148840" cy="1371600"/>
          </a:xfrm>
          <a:prstGeom prst="roundRect">
            <a:avLst>
              <a:gd name="adj" fmla="val 80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13055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852160" y="2624328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word or phrase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24912" y="2468880"/>
            <a:ext cx="347472" cy="365760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22392" y="2468880"/>
            <a:ext cx="347472" cy="365760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749040"/>
            <a:ext cx="7360920" cy="2148840"/>
          </a:xfrm>
          <a:prstGeom prst="roundRect">
            <a:avLst>
              <a:gd name="adj" fmla="val 5106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319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RELIABILITY LAYER  (studied in RQ1 &amp; RQ2)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434840"/>
            <a:ext cx="3200400" cy="1234440"/>
          </a:xfrm>
          <a:prstGeom prst="roundRect">
            <a:avLst>
              <a:gd name="adj" fmla="val 8889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994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(tool)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0932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objects → evidence (RQ1)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44348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45994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verifier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389120" y="50932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abstains if answer ≠ evidence (RQ2)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977640" y="4983480"/>
            <a:ext cx="347472" cy="365760"/>
          </a:xfrm>
          <a:prstGeom prst="rightArrow">
            <a:avLst/>
          </a:prstGeom>
          <a:solidFill>
            <a:srgbClr val="2DD4BF"/>
          </a:solidFill>
          <a:ln/>
        </p:spPr>
      </p:sp>
      <p:sp>
        <p:nvSpPr>
          <p:cNvPr id="24" name="Shape 22"/>
          <p:cNvSpPr/>
          <p:nvPr/>
        </p:nvSpPr>
        <p:spPr>
          <a:xfrm>
            <a:off x="8138160" y="1965960"/>
            <a:ext cx="3502152" cy="3931920"/>
          </a:xfrm>
          <a:prstGeom prst="roundRect">
            <a:avLst>
              <a:gd name="adj" fmla="val 3133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2194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66760" y="2651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366760" y="296265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 in 4-bit — private and free.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66760" y="36758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66760" y="398678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 runs on CPU so it never starves the VLM of GPU memory.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66760" y="47000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Human-checkable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366760" y="50109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shows the boxes the answer is based 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grounding help?  No — it hurts.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834640"/>
          </a:xfrm>
          <a:prstGeom prst="roundRect">
            <a:avLst>
              <a:gd name="adj" fmla="val 3871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HURT accuracy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990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2331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0" y="2990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645920" y="3611880"/>
            <a:ext cx="3200400" cy="566928"/>
          </a:xfrm>
          <a:prstGeom prst="roundRect">
            <a:avLst>
              <a:gd name="adj" fmla="val 50000"/>
            </a:avLst>
          </a:prstGeom>
          <a:solidFill>
            <a:srgbClr val="16213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361188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−4.0 points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Replicated on every model:   3B −4.0  ·  7B −2.3  ·  API −12.0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376672" cy="3429000"/>
          </a:xfrm>
          <a:prstGeom prst="roundRect">
            <a:avLst>
              <a:gd name="adj" fmla="val 32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8745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detector domain gap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is trained on natural photographs.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294436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nadir satellite imagery its labels are often wrong.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51129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tells the model to trust that bad evidence.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07822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fell whether or not boxes were returned.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5257800"/>
            <a:ext cx="5376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evidence is worse than no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consistency check reduces hallucination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verifier compares each answer to the detector evidence and abstains on likely hallucinations.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35584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precision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02152" y="228600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269748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46.4 → 49.9%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93592" y="335584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kept answers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55664" y="228600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269748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89.5%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47104" y="335584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retained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409176" y="2286000"/>
            <a:ext cx="2724912" cy="1828800"/>
          </a:xfrm>
          <a:prstGeom prst="roundRect">
            <a:avLst>
              <a:gd name="adj" fmla="val 6000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0616" y="2697480"/>
            <a:ext cx="2542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9F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500616" y="335584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abstained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17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high-precision, low-recall safeguard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0292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rarely abstains on a correct answer and raises accuracy on what it keeps — trading a little coverage for trust. Its ceiling is set by the same unreliable detector from RQ1, which is why an RS-specific detector is the next step.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· FINE-TUNING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the failure, then fix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naive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Full-sequence loss, learning rate 1×10⁻⁴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9535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7530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collapsed  34.5% → 8%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19709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dropped to 44.3%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99632" y="1645920"/>
            <a:ext cx="5440680" cy="3657600"/>
          </a:xfrm>
          <a:prstGeom prst="roundRect">
            <a:avLst>
              <a:gd name="adj" fmla="val 30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fixed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9672" y="23317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Answer-only loss masking + LR 2×10⁻⁵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295351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wording without forgetting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19672" y="357530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recovered; accuracy above baseline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19672" y="419709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BOTH 3B (51.5/61.3) and 7B (56.7/66.7)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926080" y="5532120"/>
            <a:ext cx="6309360" cy="658368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553212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fine-tuning gain:  </a:t>
            </a:r>
            <a:pPr algn="ctr" indent="0" marL="0">
              <a:buNone/>
            </a:pPr>
            <a:r>
              <a:rPr lang="en-US" sz="15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 exact-match  ·  +4.1 judge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across every configuration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06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456432" cy="4572000"/>
          </a:xfrm>
          <a:prstGeom prst="roundRect">
            <a:avLst>
              <a:gd name="adj" fmla="val 3175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in 10 seconds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0" y="2423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fine-tuned wins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0" y="275234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 / 66.7% — the best of all configs.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1248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helps most at 7B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412480" y="398678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 exact-match over 7B zero-shot.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1248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35B model is worst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412480" y="5221224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giant loses to a small specialist.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Scale: bigger isn't better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findings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→ 7B adds little at zero-shot despite 2× the parameters — the domain gap caps raw scale.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 larger 35B general model is the WORST of the three, even under the lenient judge.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513832" cy="2743200"/>
          </a:xfrm>
          <a:prstGeom prst="roundRect">
            <a:avLst>
              <a:gd name="adj" fmla="val 40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468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F6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fit beats raw size.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355080" y="34290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specialised, on-device model outperforms a general model 4× larger.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800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~4.6 GB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5376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in 4-bit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4800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~6.5 GB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5376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in 4-bit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4800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5376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fine-tune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52560" y="4800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052560" y="537667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/ query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product: an interactive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040880" cy="4480560"/>
          </a:xfrm>
          <a:prstGeom prst="roundRect">
            <a:avLst>
              <a:gd name="adj" fmla="val 2449"/>
            </a:avLst>
          </a:prstGeom>
          <a:solidFill>
            <a:srgbClr val="111A2E"/>
          </a:solidFill>
          <a:ln w="19050">
            <a:solidFill>
              <a:srgbClr val="2DD4BF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365760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dashboard screenshot here 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paste a screenshot of final_dashboard.py (answer + bounding boxes).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822192" cy="4480560"/>
          </a:xfrm>
          <a:prstGeom prst="roundRect">
            <a:avLst>
              <a:gd name="adj" fmla="val 2871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0" y="2377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46720" y="26700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existence, colour, and scene questions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0" y="31272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evidence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0" y="341985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detected objects are drawn on the image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38770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coach tour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046720" y="41696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onboards a first-time user step by step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46268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46720" y="49194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compare_models.py toggles fine-tuning 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537667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0" y="5669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on this laptop, no internet needed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additions fail; targeted, domain-aware ones win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3657600"/>
          </a:xfrm>
          <a:prstGeom prst="roundRect">
            <a:avLst>
              <a:gd name="adj" fmla="val 3000"/>
            </a:avLst>
          </a:prstGeom>
          <a:solidFill>
            <a:srgbClr val="111A2E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study showed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621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2377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grounding HURT accuracy — a detector domain gap.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090672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621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9067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30906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consistency check reduces hallucination at high precision (83.8%).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803904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621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0390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380390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Answer-only QLoRA lifts both sizes; 7B gains +5.4 exact-match.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517136"/>
            <a:ext cx="1051560" cy="457200"/>
          </a:xfrm>
          <a:prstGeom prst="roundRect">
            <a:avLst>
              <a:gd name="adj" fmla="val 20000"/>
            </a:avLst>
          </a:prstGeom>
          <a:solidFill>
            <a:srgbClr val="16213B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17136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4517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specialist beats a 35B generalist — domain fit beats size.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0" y="1691640"/>
            <a:ext cx="4142232" cy="3657600"/>
          </a:xfrm>
          <a:prstGeom prst="roundRect">
            <a:avLst>
              <a:gd name="adj" fmla="val 3000"/>
            </a:avLst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next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818120" y="23774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RS-specific detector → turns grounding into a gain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818120" y="309067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confidence signal → real calibration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818120" y="3803904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Counting-from-boxes → fixes the hardest type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18120" y="4517136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2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Full-split, multi-seed evaluation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53212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configuration:  </a:t>
            </a:r>
            <a:pPr algn="ctr" indent="0" marL="0">
              <a:buNone/>
            </a:pPr>
            <a:r>
              <a:rPr lang="en-US" sz="16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fine-tuned — 56.7% exact-match / 66.7% LLM-judge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486400" cy="5486400"/>
          </a:xfrm>
          <a:prstGeom prst="ellipse">
            <a:avLst/>
          </a:prstGeom>
          <a:solidFill>
            <a:srgbClr val="16213B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937760"/>
            <a:ext cx="2926080" cy="2926080"/>
          </a:xfrm>
          <a:prstGeom prst="ellipse">
            <a:avLst/>
          </a:prstGeom>
          <a:solidFill>
            <a:srgbClr val="111A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private, on-device vision AI for satellite imagery.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Uday Kalase  ·  40509608  ·  ECS8060 Artificial Intelligence Engineering, QUB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4892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where would reliable satellite Q&amp;A create the most value for you?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2026-08-25T14:45:29Z</dcterms:created>
  <dcterms:modified xsi:type="dcterms:W3CDTF">2026-08-25T14:45:29Z</dcterms:modified>
</cp:coreProperties>
</file>